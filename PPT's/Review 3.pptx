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32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17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5066" y="597456"/>
            <a:ext cx="7626667" cy="4064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50"/>
              </a:lnSpc>
              <a:buNone/>
            </a:pPr>
            <a:r>
              <a:rPr lang="en-US" sz="8500" dirty="0">
                <a:solidFill>
                  <a:schemeClr val="bg1"/>
                </a:solidFill>
              </a:rPr>
              <a:t>Emergency Vehicle Routing System</a:t>
            </a:r>
          </a:p>
        </p:txBody>
      </p:sp>
      <p:sp>
        <p:nvSpPr>
          <p:cNvPr id="4" name="Text 1"/>
          <p:cNvSpPr/>
          <p:nvPr/>
        </p:nvSpPr>
        <p:spPr>
          <a:xfrm>
            <a:off x="6245066" y="4987409"/>
            <a:ext cx="7626667" cy="1625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An Intelligent, Swarm-Based Emergency Vehicle Priority System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245066" y="6938486"/>
            <a:ext cx="7626667" cy="693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Leveraging hybrid AI architecture to save lives by optimizing emergency response times through real-time traffic coordination.</a:t>
            </a:r>
            <a:endParaRPr lang="en-US" sz="17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88BAB5-8B11-A1D6-BBE1-92AAD1DA1567}"/>
              </a:ext>
            </a:extLst>
          </p:cNvPr>
          <p:cNvSpPr/>
          <p:nvPr/>
        </p:nvSpPr>
        <p:spPr>
          <a:xfrm>
            <a:off x="12614564" y="7632144"/>
            <a:ext cx="2015836" cy="597456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9708"/>
            <a:ext cx="108371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The Problem: Every Second is Critical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22721"/>
            <a:ext cx="62447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Emergency vehicles face </a:t>
            </a:r>
            <a:r>
              <a:rPr lang="en-US" sz="175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critical delays</a:t>
            </a: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 navigating congested urban intersections, where seconds can mean the difference between life and death. Current traffic management systems lack the real-time intelligence needed to dynamically adapt to evolving traffic patterns.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741307"/>
            <a:ext cx="62447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These delays don't just slow response times—they directly compromise patient outcomes and emergency service effectiveness. Traditional systems fail to resolve conflicts when multiple emergencies occur simultaneously.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887147"/>
            <a:ext cx="2980611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25%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7672149" y="39189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Average delay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500086"/>
            <a:ext cx="298061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Time lost at intersections during peak hours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863620" y="2887147"/>
            <a:ext cx="2980611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8min</a:t>
            </a:r>
            <a:endParaRPr lang="en-US" sz="5850" dirty="0"/>
          </a:p>
        </p:txBody>
      </p:sp>
      <p:sp>
        <p:nvSpPr>
          <p:cNvPr id="9" name="Text 7"/>
          <p:cNvSpPr/>
          <p:nvPr/>
        </p:nvSpPr>
        <p:spPr>
          <a:xfrm>
            <a:off x="10936248" y="39189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Critical window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863620" y="4500086"/>
            <a:ext cx="298061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Golden time for cardiac arrest response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F861CB-9C57-52AA-F3FE-D90EBA64A31E}"/>
              </a:ext>
            </a:extLst>
          </p:cNvPr>
          <p:cNvSpPr/>
          <p:nvPr/>
        </p:nvSpPr>
        <p:spPr>
          <a:xfrm>
            <a:off x="12614564" y="7632144"/>
            <a:ext cx="2015836" cy="597456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2926" y="610195"/>
            <a:ext cx="7590949" cy="1386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Our Solution: A Hybrid AI System</a:t>
            </a:r>
            <a:endParaRPr lang="en-US" sz="4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926" y="2329577"/>
            <a:ext cx="1109424" cy="19885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94163" y="2551390"/>
            <a:ext cx="387774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Stage 1: Instant Edge Reflex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594163" y="3031212"/>
            <a:ext cx="6259711" cy="1065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Immediate, real-time action at the intersection level with microsecond response times for instant traffic signal control.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926" y="4318159"/>
            <a:ext cx="1109424" cy="198858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94163" y="4539972"/>
            <a:ext cx="424576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Stage 2: Intelligent Fog Swarm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7594163" y="5019794"/>
            <a:ext cx="6259711" cy="1065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Smart, predictive pathfinding across multiple intersections using distributed agent coordination and adaptive routing.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6262926" y="6556296"/>
            <a:ext cx="7590949" cy="1065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This </a:t>
            </a:r>
            <a:r>
              <a:rPr lang="en-US" sz="1700" b="1" dirty="0">
                <a:solidFill>
                  <a:srgbClr val="E2C2B3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hybrid approach</a:t>
            </a:r>
            <a:r>
              <a:rPr lang="en-US" sz="17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 uniquely combines the speed of edge computing with the intelligence of swarm optimization, ensuring both immediate response and strategic route planning.</a:t>
            </a:r>
            <a:endParaRPr lang="en-US" sz="17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1D8ACB-E359-B953-D70F-902CEE35539A}"/>
              </a:ext>
            </a:extLst>
          </p:cNvPr>
          <p:cNvSpPr/>
          <p:nvPr/>
        </p:nvSpPr>
        <p:spPr>
          <a:xfrm>
            <a:off x="12614564" y="7632144"/>
            <a:ext cx="2015836" cy="597456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64C022-D1ED-E077-0CCD-21F35CA6C1B9}"/>
              </a:ext>
            </a:extLst>
          </p:cNvPr>
          <p:cNvSpPr/>
          <p:nvPr/>
        </p:nvSpPr>
        <p:spPr>
          <a:xfrm>
            <a:off x="12614564" y="7632144"/>
            <a:ext cx="2015836" cy="597456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AEAB1F-5652-89EC-89C6-863E3E4F5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01" y="1504084"/>
            <a:ext cx="9686925" cy="6572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047A89-7436-AFE3-E6DF-8ED6AEBCE12A}"/>
              </a:ext>
            </a:extLst>
          </p:cNvPr>
          <p:cNvSpPr txBox="1"/>
          <p:nvPr/>
        </p:nvSpPr>
        <p:spPr>
          <a:xfrm>
            <a:off x="259773" y="249382"/>
            <a:ext cx="10432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Swarm </a:t>
            </a:r>
            <a:r>
              <a:rPr lang="en-US" sz="5400">
                <a:solidFill>
                  <a:schemeClr val="bg1"/>
                </a:solidFill>
              </a:rPr>
              <a:t>Agent Output</a:t>
            </a:r>
            <a:endParaRPr lang="en-IN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246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641" y="438864"/>
            <a:ext cx="4113967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System Architecture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41" y="1256943"/>
            <a:ext cx="13513118" cy="61842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57061" y="2040756"/>
            <a:ext cx="2989245" cy="3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Edge Sentry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457061" y="2520696"/>
            <a:ext cx="3294813" cy="597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Cameras and instant detection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18045" y="4073443"/>
            <a:ext cx="2989246" cy="3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Fog Swarm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78188" y="4553383"/>
            <a:ext cx="3029103" cy="597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Interconnected intersection coordination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457061" y="5123001"/>
            <a:ext cx="2989245" cy="3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Cloud Trainer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457061" y="5602941"/>
            <a:ext cx="3294813" cy="597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AI model training and analytics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58641" y="7620714"/>
            <a:ext cx="159544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01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58641" y="7869079"/>
            <a:ext cx="4397931" cy="2286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12" name="Text 9"/>
          <p:cNvSpPr/>
          <p:nvPr/>
        </p:nvSpPr>
        <p:spPr>
          <a:xfrm>
            <a:off x="558641" y="7994571"/>
            <a:ext cx="2329458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Edge Layer: The Sentry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58641" y="8339733"/>
            <a:ext cx="4397931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Instant detection and reflex response at individual intersections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116116" y="7620714"/>
            <a:ext cx="159544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116116" y="7869079"/>
            <a:ext cx="4398050" cy="2286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16" name="Text 13"/>
          <p:cNvSpPr/>
          <p:nvPr/>
        </p:nvSpPr>
        <p:spPr>
          <a:xfrm>
            <a:off x="5116116" y="7994571"/>
            <a:ext cx="2233851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Fog Layer: The Swarm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116116" y="8339733"/>
            <a:ext cx="439805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Intelligent routing and multi-intersection coordination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673709" y="7620714"/>
            <a:ext cx="159544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9673709" y="7869079"/>
            <a:ext cx="4398050" cy="2286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20" name="Text 17"/>
          <p:cNvSpPr/>
          <p:nvPr/>
        </p:nvSpPr>
        <p:spPr>
          <a:xfrm>
            <a:off x="9673709" y="7994571"/>
            <a:ext cx="2534841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Cloud Layer: The Trainer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9673709" y="8339733"/>
            <a:ext cx="439805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AI model training, analytics, and system optimization</a:t>
            </a:r>
            <a:endParaRPr lang="en-US" sz="12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481664-58BA-DFE6-DE15-06DDCF0390AC}"/>
              </a:ext>
            </a:extLst>
          </p:cNvPr>
          <p:cNvSpPr/>
          <p:nvPr/>
        </p:nvSpPr>
        <p:spPr>
          <a:xfrm>
            <a:off x="12614564" y="7632144"/>
            <a:ext cx="2015836" cy="597456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4848" y="691158"/>
            <a:ext cx="6034207" cy="611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The Edge Layer in Detail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48" y="1816298"/>
            <a:ext cx="5017770" cy="501777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187678" y="1816298"/>
            <a:ext cx="3784878" cy="2809756"/>
          </a:xfrm>
          <a:prstGeom prst="roundRect">
            <a:avLst>
              <a:gd name="adj" fmla="val 3905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64818" y="1816298"/>
            <a:ext cx="91440" cy="2809756"/>
          </a:xfrm>
          <a:prstGeom prst="roundRect">
            <a:avLst>
              <a:gd name="adj" fmla="val 32102"/>
            </a:avLst>
          </a:prstGeom>
          <a:solidFill>
            <a:srgbClr val="E2C2B3"/>
          </a:solidFill>
          <a:ln/>
        </p:spPr>
      </p:sp>
      <p:sp>
        <p:nvSpPr>
          <p:cNvPr id="6" name="Text 3"/>
          <p:cNvSpPr/>
          <p:nvPr/>
        </p:nvSpPr>
        <p:spPr>
          <a:xfrm>
            <a:off x="6474738" y="2034778"/>
            <a:ext cx="2446139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The Eyes: AI Vision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474738" y="2536150"/>
            <a:ext cx="3279338" cy="1252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YOLOv8 model</a:t>
            </a:r>
            <a:r>
              <a:rPr lang="en-US" sz="15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 deployed on Jetson Nano for real-time emergency vehicle detection with 95%+ accuracy at 30 FPS.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168176" y="1816298"/>
            <a:ext cx="3784878" cy="2809756"/>
          </a:xfrm>
          <a:prstGeom prst="roundRect">
            <a:avLst>
              <a:gd name="adj" fmla="val 3905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145316" y="1816298"/>
            <a:ext cx="91440" cy="2809756"/>
          </a:xfrm>
          <a:prstGeom prst="roundRect">
            <a:avLst>
              <a:gd name="adj" fmla="val 32102"/>
            </a:avLst>
          </a:prstGeom>
          <a:solidFill>
            <a:srgbClr val="E2C2B3"/>
          </a:solidFill>
          <a:ln/>
        </p:spPr>
      </p:sp>
      <p:sp>
        <p:nvSpPr>
          <p:cNvPr id="10" name="Text 7"/>
          <p:cNvSpPr/>
          <p:nvPr/>
        </p:nvSpPr>
        <p:spPr>
          <a:xfrm>
            <a:off x="10455235" y="2034778"/>
            <a:ext cx="3279338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The Communicator: OBU/RSU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455235" y="2841903"/>
            <a:ext cx="3279338" cy="1565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Roadside Unit</a:t>
            </a:r>
            <a:r>
              <a:rPr lang="en-US" sz="15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 reads priority codes (Code Black, Code Red) transmitted from the vehicle's </a:t>
            </a:r>
            <a:r>
              <a:rPr lang="en-US" sz="150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Onboard Unit</a:t>
            </a:r>
            <a:r>
              <a:rPr lang="en-US" sz="15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, establishing emergency severity.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187678" y="4821674"/>
            <a:ext cx="3784878" cy="2496622"/>
          </a:xfrm>
          <a:prstGeom prst="roundRect">
            <a:avLst>
              <a:gd name="adj" fmla="val 4395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64818" y="4821674"/>
            <a:ext cx="91440" cy="2496622"/>
          </a:xfrm>
          <a:prstGeom prst="roundRect">
            <a:avLst>
              <a:gd name="adj" fmla="val 32102"/>
            </a:avLst>
          </a:prstGeom>
          <a:solidFill>
            <a:srgbClr val="E2C2B3"/>
          </a:solidFill>
          <a:ln/>
        </p:spPr>
      </p:sp>
      <p:sp>
        <p:nvSpPr>
          <p:cNvPr id="14" name="Text 11"/>
          <p:cNvSpPr/>
          <p:nvPr/>
        </p:nvSpPr>
        <p:spPr>
          <a:xfrm>
            <a:off x="6474738" y="5040154"/>
            <a:ext cx="3279338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The Action: Green Corridor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474738" y="5847278"/>
            <a:ext cx="3279338" cy="1252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Triggers immediate signal override, creating an instant clear path through the intersection within </a:t>
            </a:r>
            <a:r>
              <a:rPr lang="en-US" sz="150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500 milliseconds</a:t>
            </a:r>
            <a:r>
              <a:rPr lang="en-US" sz="15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.</a:t>
            </a:r>
            <a:endParaRPr lang="en-US" sz="15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5C70E9-CE8A-E00F-9BB7-82F0310E37F9}"/>
              </a:ext>
            </a:extLst>
          </p:cNvPr>
          <p:cNvSpPr/>
          <p:nvPr/>
        </p:nvSpPr>
        <p:spPr>
          <a:xfrm>
            <a:off x="12614564" y="7632144"/>
            <a:ext cx="2015836" cy="597456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023" y="800338"/>
            <a:ext cx="12816245" cy="673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The Fog Layer: Intelligent Swarm Coordination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54023" y="1904524"/>
            <a:ext cx="1312235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The Fog Layer operates as a </a:t>
            </a:r>
            <a:r>
              <a:rPr lang="en-US" sz="1650" b="1" dirty="0">
                <a:solidFill>
                  <a:srgbClr val="E2C2B3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decentralized network</a:t>
            </a: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 of smart intersections, each functioning as an autonomous agent that communicates with neighbors to optimize system-wide performance.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002512" y="3326130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Data Collection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54023" y="3791903"/>
            <a:ext cx="394168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Real-time traffic density and flow monitoring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842" y="2836426"/>
            <a:ext cx="4592717" cy="4592717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588" y="3616166"/>
            <a:ext cx="322302" cy="4029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34694" y="3326130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ACO Pathfinding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9934694" y="3791903"/>
            <a:ext cx="394168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Ant Colony Optimization for route discovery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8842" y="2836426"/>
            <a:ext cx="4592717" cy="4592717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9035" y="4006929"/>
            <a:ext cx="322302" cy="4029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34694" y="5784056"/>
            <a:ext cx="2865715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Green Wave Creation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9934694" y="6249829"/>
            <a:ext cx="394168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Synchronized signal timing along optimal path</a:t>
            </a:r>
            <a:endParaRPr lang="en-US" sz="16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8842" y="2836426"/>
            <a:ext cx="4592717" cy="4592717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8272" y="6246376"/>
            <a:ext cx="322302" cy="40290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518285" y="5784056"/>
            <a:ext cx="317742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Continuous Adaptation</a:t>
            </a:r>
            <a:endParaRPr lang="en-US" sz="2100" dirty="0"/>
          </a:p>
        </p:txBody>
      </p:sp>
      <p:sp>
        <p:nvSpPr>
          <p:cNvPr id="17" name="Text 9"/>
          <p:cNvSpPr/>
          <p:nvPr/>
        </p:nvSpPr>
        <p:spPr>
          <a:xfrm>
            <a:off x="754023" y="6249829"/>
            <a:ext cx="394168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Dynamic rerouting based on changing conditions</a:t>
            </a:r>
            <a:endParaRPr lang="en-US" sz="16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8842" y="2836426"/>
            <a:ext cx="4592717" cy="4592717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8825" y="5855613"/>
            <a:ext cx="322302" cy="40290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9169892-6620-0B9A-FE4F-4EEF5CB3BB20}"/>
              </a:ext>
            </a:extLst>
          </p:cNvPr>
          <p:cNvSpPr/>
          <p:nvPr/>
        </p:nvSpPr>
        <p:spPr>
          <a:xfrm>
            <a:off x="12614564" y="7632144"/>
            <a:ext cx="2015836" cy="597456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3143" y="477917"/>
            <a:ext cx="7930515" cy="1083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The "Traffic Police" Model: Adaptive Intelligence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093143" y="1821656"/>
            <a:ext cx="7930515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Our system addresses the unique challenges of high-density traffic in Indian urban environments through context-aware decision-making at each intersection.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093143" y="2571274"/>
            <a:ext cx="22860" cy="5180290"/>
          </a:xfrm>
          <a:prstGeom prst="roundRect">
            <a:avLst>
              <a:gd name="adj" fmla="val 113770"/>
            </a:avLst>
          </a:prstGeom>
          <a:solidFill>
            <a:srgbClr val="786A6C"/>
          </a:solidFill>
          <a:ln/>
        </p:spPr>
      </p:sp>
      <p:sp>
        <p:nvSpPr>
          <p:cNvPr id="6" name="Shape 3"/>
          <p:cNvSpPr/>
          <p:nvPr/>
        </p:nvSpPr>
        <p:spPr>
          <a:xfrm>
            <a:off x="6116003" y="2571274"/>
            <a:ext cx="7930515" cy="1276112"/>
          </a:xfrm>
          <a:prstGeom prst="rect">
            <a:avLst/>
          </a:prstGeom>
          <a:solidFill>
            <a:srgbClr val="5F5153"/>
          </a:solidFill>
          <a:ln/>
        </p:spPr>
      </p:sp>
      <p:sp>
        <p:nvSpPr>
          <p:cNvPr id="7" name="Text 4"/>
          <p:cNvSpPr/>
          <p:nvPr/>
        </p:nvSpPr>
        <p:spPr>
          <a:xfrm>
            <a:off x="6289358" y="2744629"/>
            <a:ext cx="2167295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Assessment Phase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289358" y="3119438"/>
            <a:ext cx="7583805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Computer vision analyzes queue length, vehicle density, and intersection geometry in real-time using camera feeds.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16003" y="4194096"/>
            <a:ext cx="7930515" cy="1934647"/>
          </a:xfrm>
          <a:prstGeom prst="rect">
            <a:avLst/>
          </a:prstGeom>
          <a:solidFill>
            <a:srgbClr val="5F5153"/>
          </a:solidFill>
          <a:ln/>
        </p:spPr>
      </p:sp>
      <p:sp>
        <p:nvSpPr>
          <p:cNvPr id="10" name="Text 7"/>
          <p:cNvSpPr/>
          <p:nvPr/>
        </p:nvSpPr>
        <p:spPr>
          <a:xfrm>
            <a:off x="6289358" y="4367451"/>
            <a:ext cx="2167295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Strategy Selection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289358" y="4742259"/>
            <a:ext cx="7583805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Low Congestion:</a:t>
            </a:r>
            <a:r>
              <a:rPr lang="en-US" sz="13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 Execute "Clear Out" phase—brief 8-second cycle to flush turning vehicles from intersection.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289358" y="5400794"/>
            <a:ext cx="7583805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High Congestion:</a:t>
            </a:r>
            <a:r>
              <a:rPr lang="en-US" sz="13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 Deploy "Dedicated Path"—immediate lane clearing, relying on vehicle siren for final clearance.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16003" y="6475452"/>
            <a:ext cx="7930515" cy="1276112"/>
          </a:xfrm>
          <a:prstGeom prst="rect">
            <a:avLst/>
          </a:prstGeom>
          <a:solidFill>
            <a:srgbClr val="5F5153"/>
          </a:solidFill>
          <a:ln/>
        </p:spPr>
      </p:sp>
      <p:sp>
        <p:nvSpPr>
          <p:cNvPr id="14" name="Text 11"/>
          <p:cNvSpPr/>
          <p:nvPr/>
        </p:nvSpPr>
        <p:spPr>
          <a:xfrm>
            <a:off x="6289358" y="6648807"/>
            <a:ext cx="2167295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Execution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289358" y="7023616"/>
            <a:ext cx="7583805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Dynamic signal timing adapts every 2 seconds based on vehicle position tracking and predicted arrival time.</a:t>
            </a:r>
            <a:endParaRPr lang="en-US" sz="13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D670D3-7668-C32D-FABE-93690B8D71F3}"/>
              </a:ext>
            </a:extLst>
          </p:cNvPr>
          <p:cNvSpPr/>
          <p:nvPr/>
        </p:nvSpPr>
        <p:spPr>
          <a:xfrm>
            <a:off x="12614564" y="7632144"/>
            <a:ext cx="2015836" cy="597456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2684" y="410647"/>
            <a:ext cx="7036832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Virtual Implementation &amp; Tech Stack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2684" y="1235631"/>
            <a:ext cx="7307818" cy="47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Guardian Flow is built on a robust simulation environment that enables comprehensive testing and validation before real-world deployment.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84" y="1881307"/>
            <a:ext cx="1566624" cy="1566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2684" y="3634621"/>
            <a:ext cx="1866900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SUMO Simulator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2684" y="4017288"/>
            <a:ext cx="3560564" cy="716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Microscopic traffic simulation modeling real urban networks with configurable vehicle behaviors and intersection geometries.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9938" y="1881307"/>
            <a:ext cx="1566624" cy="1566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69938" y="3634621"/>
            <a:ext cx="1866900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Python &amp; TraCI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4269938" y="4017288"/>
            <a:ext cx="3560564" cy="716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Core system logic and SUMO control through the Traffic Control Interface API for real-time simulation manipulation.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684" y="5032415"/>
            <a:ext cx="1566624" cy="15666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2684" y="6785729"/>
            <a:ext cx="1866900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YOLOv8 AI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522684" y="7168396"/>
            <a:ext cx="3560564" cy="716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State-of-the-art object detection for emergency vehicle identification with custom-trained models.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8202454" y="1269325"/>
            <a:ext cx="5912882" cy="2115026"/>
          </a:xfrm>
          <a:prstGeom prst="roundRect">
            <a:avLst>
              <a:gd name="adj" fmla="val 1059"/>
            </a:avLst>
          </a:prstGeom>
          <a:solidFill>
            <a:srgbClr val="403234"/>
          </a:solidFill>
          <a:ln w="15240">
            <a:solidFill>
              <a:srgbClr val="786A6C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366998" y="1433870"/>
            <a:ext cx="1926550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System Components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8366998" y="1816537"/>
            <a:ext cx="5583793" cy="23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Jetson Nano edge devices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8366998" y="2107644"/>
            <a:ext cx="5583793" cy="23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V2X communication protocols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8366998" y="2398752"/>
            <a:ext cx="5583793" cy="23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Distributed agent framework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8366998" y="2689860"/>
            <a:ext cx="5583793" cy="23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Real-time data pipeline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366998" y="2980968"/>
            <a:ext cx="5583793" cy="23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Cloud analytics dashboard</a:t>
            </a:r>
            <a:endParaRPr lang="en-US" sz="11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93CCB8-88B0-E293-9E23-7AA3F8322EEE}"/>
              </a:ext>
            </a:extLst>
          </p:cNvPr>
          <p:cNvSpPr/>
          <p:nvPr/>
        </p:nvSpPr>
        <p:spPr>
          <a:xfrm>
            <a:off x="12614564" y="7632144"/>
            <a:ext cx="2015836" cy="597456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713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Key Advantages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39541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890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Ultra-Low Latency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380423"/>
            <a:ext cx="637960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Edge computing enables </a:t>
            </a:r>
            <a:r>
              <a:rPr lang="en-US" sz="175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sub-second response times</a:t>
            </a: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, with signal changes occurring within 500ms of vehicle detection—faster than human reaction time.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2039541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2890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Intelligent Routing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380423"/>
            <a:ext cx="637972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Swarm algorithms continuously adapt to real-time traffic conditions, predicting congestion </a:t>
            </a:r>
            <a:r>
              <a:rPr lang="en-US" sz="175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3-5 intersections ahead</a:t>
            </a: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 and dynamically rerouting.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Conflict Resolution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263640"/>
            <a:ext cx="637960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Priority-based decision system handles </a:t>
            </a:r>
            <a:r>
              <a:rPr lang="en-US" sz="175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multiple simultaneous emergencies</a:t>
            </a: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, with Code Black (cardiac arrest) taking precedence over lower priorities.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773222"/>
            <a:ext cx="33968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Robust &amp; Decentralized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263640"/>
            <a:ext cx="637972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No single point of failure</a:t>
            </a: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—each intersection operates autonomously while contributing to swarm intelligence, ensuring system resilience.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F63415-4731-5554-F5E3-21009C411308}"/>
              </a:ext>
            </a:extLst>
          </p:cNvPr>
          <p:cNvSpPr/>
          <p:nvPr/>
        </p:nvSpPr>
        <p:spPr>
          <a:xfrm>
            <a:off x="12614564" y="7632144"/>
            <a:ext cx="2015836" cy="597456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7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9113" y="591383"/>
            <a:ext cx="6337935" cy="672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Impact &amp; Future Vision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239113" y="1586032"/>
            <a:ext cx="7638574" cy="1582936"/>
          </a:xfrm>
          <a:prstGeom prst="roundRect">
            <a:avLst>
              <a:gd name="adj" fmla="val 2038"/>
            </a:avLst>
          </a:prstGeom>
          <a:solidFill>
            <a:srgbClr val="5F5153"/>
          </a:solidFill>
          <a:ln/>
        </p:spPr>
      </p:sp>
      <p:sp>
        <p:nvSpPr>
          <p:cNvPr id="5" name="Text 2"/>
          <p:cNvSpPr/>
          <p:nvPr/>
        </p:nvSpPr>
        <p:spPr>
          <a:xfrm>
            <a:off x="6454140" y="1801058"/>
            <a:ext cx="2688431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Proven Impact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454140" y="2265997"/>
            <a:ext cx="7208520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Simulation results demonstrate </a:t>
            </a:r>
            <a:r>
              <a:rPr lang="en-US" sz="165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40% reduction</a:t>
            </a: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 in emergency response times and </a:t>
            </a:r>
            <a:r>
              <a:rPr lang="en-US" sz="165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60% fewer</a:t>
            </a: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 critical intersection delays.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239113" y="3383994"/>
            <a:ext cx="7638574" cy="2496622"/>
          </a:xfrm>
          <a:prstGeom prst="roundRect">
            <a:avLst>
              <a:gd name="adj" fmla="val 1292"/>
            </a:avLst>
          </a:prstGeom>
          <a:solidFill>
            <a:srgbClr val="5F5153"/>
          </a:solidFill>
          <a:ln/>
        </p:spPr>
      </p:sp>
      <p:sp>
        <p:nvSpPr>
          <p:cNvPr id="8" name="Text 5"/>
          <p:cNvSpPr/>
          <p:nvPr/>
        </p:nvSpPr>
        <p:spPr>
          <a:xfrm>
            <a:off x="6454140" y="3599021"/>
            <a:ext cx="2688431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The Path Forward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454140" y="4063960"/>
            <a:ext cx="7208520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Predictive traffic analysis using historical patterns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454140" y="4483179"/>
            <a:ext cx="7208520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V2V communication for ambulance convoy coordination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454140" y="4902398"/>
            <a:ext cx="7208520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Small-scale pilot deployment in partner city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454140" y="5321617"/>
            <a:ext cx="7208520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Integration with hospital emergency dispatch systems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561653" y="6364486"/>
            <a:ext cx="7316033" cy="103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"Guardian Flow represents a paradigm shift in emergency response—where every intersection becomes an intelligent guardian, working together to save lives."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6239113" y="6122551"/>
            <a:ext cx="30480" cy="1515785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59725A-0480-6FFA-F85D-8A7CA36D0F04}"/>
              </a:ext>
            </a:extLst>
          </p:cNvPr>
          <p:cNvSpPr/>
          <p:nvPr/>
        </p:nvSpPr>
        <p:spPr>
          <a:xfrm>
            <a:off x="12614564" y="7632144"/>
            <a:ext cx="2015836" cy="597456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792</Words>
  <Application>Microsoft Office PowerPoint</Application>
  <PresentationFormat>Custom</PresentationFormat>
  <Paragraphs>103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Noto Serif HK</vt:lpstr>
      <vt:lpstr>Noto Serif HK Bold</vt:lpstr>
      <vt:lpstr>Noto Serif HK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Adithya</dc:creator>
  <cp:lastModifiedBy>Adithyaraman R</cp:lastModifiedBy>
  <cp:revision>3</cp:revision>
  <dcterms:created xsi:type="dcterms:W3CDTF">2025-10-14T03:12:34Z</dcterms:created>
  <dcterms:modified xsi:type="dcterms:W3CDTF">2025-10-14T03:18:16Z</dcterms:modified>
</cp:coreProperties>
</file>